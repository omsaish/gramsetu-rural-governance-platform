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10698480" cy="4297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300" b="1">
                <a:solidFill>
                  <a:srgbClr val="0A2540"/>
                </a:solidFill>
                <a:latin typeface="Arial"/>
              </a:rPr>
              <a:t>Problem Statement ID –</a:t>
            </a:r>
            <a:r>
              <a:rPr sz="1250" b="0">
                <a:solidFill>
                  <a:srgbClr val="334155"/>
                </a:solidFill>
                <a:latin typeface="Arial"/>
              </a:rPr>
              <a:t> SIH2026 (Smart Governance / Citizen Welfare)</a:t>
            </a:r>
            <a:endParaRPr lang="en-US" dirty="0"/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300" b="1">
                <a:solidFill>
                  <a:srgbClr val="0A2540"/>
                </a:solidFill>
                <a:latin typeface="Arial"/>
              </a:rPr>
              <a:t>Problem Statement Title –</a:t>
            </a:r>
            <a:r>
              <a:rPr sz="1250" b="0">
                <a:solidFill>
                  <a:srgbClr val="334155"/>
                </a:solidFill>
                <a:latin typeface="Arial"/>
              </a:rPr>
              <a:t> Multilingual Digital Governance, Welfare Scheme Entitlement &amp; Grievance Assistant for Rural Gram Panchayats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300" b="1">
                <a:solidFill>
                  <a:srgbClr val="0A2540"/>
                </a:solidFill>
                <a:latin typeface="Arial"/>
              </a:rPr>
              <a:t>Theme –</a:t>
            </a:r>
            <a:r>
              <a:rPr sz="1250" b="0">
                <a:solidFill>
                  <a:srgbClr val="334155"/>
                </a:solidFill>
                <a:latin typeface="Arial"/>
              </a:rPr>
              <a:t> Smart Governance &amp; Citizen Empowerment / Rural Development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300" b="1">
                <a:solidFill>
                  <a:srgbClr val="0A2540"/>
                </a:solidFill>
                <a:latin typeface="Arial"/>
              </a:rPr>
              <a:t>PS Category –</a:t>
            </a:r>
            <a:r>
              <a:rPr sz="1250" b="0">
                <a:solidFill>
                  <a:srgbClr val="334155"/>
                </a:solidFill>
                <a:latin typeface="Arial"/>
              </a:rPr>
              <a:t> Software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300" b="1">
                <a:solidFill>
                  <a:srgbClr val="0A2540"/>
                </a:solidFill>
                <a:latin typeface="Arial"/>
              </a:rPr>
              <a:t>Team ID –</a:t>
            </a:r>
            <a:r>
              <a:rPr sz="1250" b="0">
                <a:solidFill>
                  <a:srgbClr val="334155"/>
                </a:solidFill>
                <a:latin typeface="Arial"/>
              </a:rPr>
              <a:t> [Enter Your Registered SIH Team ID]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300" b="1">
                <a:solidFill>
                  <a:srgbClr val="0A2540"/>
                </a:solidFill>
                <a:latin typeface="Arial"/>
              </a:rPr>
              <a:t>Team Name (Registered on portal) –</a:t>
            </a:r>
            <a:r>
              <a:rPr sz="1250" b="0">
                <a:solidFill>
                  <a:srgbClr val="334155"/>
                </a:solidFill>
                <a:latin typeface="Arial"/>
              </a:rPr>
              <a:t> SankalpX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300" b="1">
                <a:solidFill>
                  <a:srgbClr val="0A2540"/>
                </a:solidFill>
                <a:latin typeface="Arial"/>
              </a:rPr>
              <a:t>Team Members –</a:t>
            </a:r>
            <a:r>
              <a:rPr sz="1250" b="0">
                <a:solidFill>
                  <a:srgbClr val="334155"/>
                </a:solidFill>
                <a:latin typeface="Arial"/>
              </a:rPr>
              <a:t> More Sanjivani, Deshmukh Anushka, Thorat Saujanya, Nehe Dhanshri, Khurud Tanushri, Dhokchaule Omsaish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300" b="1">
                <a:solidFill>
                  <a:srgbClr val="0A2540"/>
                </a:solidFill>
                <a:latin typeface="Arial"/>
              </a:rPr>
              <a:t>Project Name –</a:t>
            </a:r>
            <a:r>
              <a:rPr sz="1250" b="0">
                <a:solidFill>
                  <a:srgbClr val="334155"/>
                </a:solidFill>
                <a:latin typeface="Arial"/>
              </a:rPr>
              <a:t> GramSetu (ग्रामसेतू) — Rural Governance Platform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300" b="1">
                <a:solidFill>
                  <a:srgbClr val="0A2540"/>
                </a:solidFill>
                <a:latin typeface="Arial"/>
              </a:rPr>
              <a:t>Live Working Prototype –</a:t>
            </a:r>
            <a:r>
              <a:rPr sz="1250" b="0">
                <a:solidFill>
                  <a:srgbClr val="334155"/>
                </a:solidFill>
                <a:latin typeface="Arial"/>
              </a:rPr>
              <a:t> https://gramsetu-rural-governance-platform.vercel.app  (API: https://gramsetu-rural-governance-platform.onrender.com)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l"/>
            <a:r>
              <a:rPr sz="2600" b="1">
                <a:solidFill>
                  <a:srgbClr val="0A2540"/>
                </a:solidFill>
                <a:latin typeface="Arial"/>
              </a:rPr>
              <a:t>IDEA TITLE: GramSetu (ग्रामसेतू) — Rural Governance &amp; Welfare Assistant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731520" y="1234440"/>
            <a:ext cx="10698480" cy="4892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sz="1450" b="1">
                <a:solidFill>
                  <a:srgbClr val="0A2540"/>
                </a:solidFill>
                <a:latin typeface="Arial"/>
              </a:rPr>
              <a:t>• Proposed Solution &amp; Live Prototype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Citizen-Panchayat Bridge: </a:t>
            </a:r>
            <a:r>
              <a:rPr sz="1250" b="0">
                <a:solidFill>
                  <a:srgbClr val="1E293B"/>
                </a:solidFill>
                <a:latin typeface="Arial"/>
              </a:rPr>
              <a:t>AI-powered bilingual platform bridging rural citizens with Gram Panchayat administration (specifically localized for GP Kopargaon, Dist Ahilyanagar).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Live Working Prototype: </a:t>
            </a:r>
            <a:r>
              <a:rPr sz="1250" b="0">
                <a:solidFill>
                  <a:srgbClr val="1E293B"/>
                </a:solidFill>
                <a:latin typeface="Arial"/>
              </a:rPr>
              <a:t>Fully deployed &amp; operational at https://gramsetu-rural-governance-platform.vercel.app with continuous cloud backend on Render.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50" b="1">
                <a:solidFill>
                  <a:srgbClr val="0A2540"/>
                </a:solidFill>
                <a:latin typeface="Arial"/>
              </a:rPr>
              <a:t>• Detailed Explanation of Core Components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1. GramSetu AI Sahayak: </a:t>
            </a:r>
            <a:r>
              <a:rPr sz="1250" b="0">
                <a:solidFill>
                  <a:srgbClr val="1E293B"/>
                </a:solidFill>
                <a:latin typeface="Arial"/>
              </a:rPr>
              <a:t>Multilingual (Marathi/Hindi/English) voice-first assistant answering queries on Gram Sabhas, water supply schedules, and certificate procedures.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2. 1-Click Scheme Entitlement: </a:t>
            </a:r>
            <a:r>
              <a:rPr sz="1250" b="0">
                <a:solidFill>
                  <a:srgbClr val="1E293B"/>
                </a:solidFill>
                <a:latin typeface="Arial"/>
              </a:rPr>
              <a:t>Client-side JSON rule engine evaluating eligibility for 5 major schemes (PMAY-G, Pensions, MGNREGA, Scholarships) and auto-generating official Annexure-1 (प्रपत्र क्र. १) print applications.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3. CPGRAMS-Standard Grievance Desk: </a:t>
            </a:r>
            <a:r>
              <a:rPr sz="1250" b="0">
                <a:solidFill>
                  <a:srgbClr val="1E293B"/>
                </a:solidFill>
                <a:latin typeface="Arial"/>
              </a:rPr>
              <a:t>Issues unique 12-char certified tracking codes (GS-2026-XXXXX) with a 4-stage verified timeline (Lodged ➔ Assigned ➔ Inspected ➔ Resolved).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4. Panchayat MIS War Room: </a:t>
            </a:r>
            <a:r>
              <a:rPr sz="1250" b="0">
                <a:solidFill>
                  <a:srgbClr val="1E293B"/>
                </a:solidFill>
                <a:latin typeface="Arial"/>
              </a:rPr>
              <a:t>Real-time command center for Gram Sevaks &amp; Sarpanchs with systemic bottleneck heatmaps, official triage registers, and 7-day SLA enforcement.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50" b="1">
                <a:solidFill>
                  <a:srgbClr val="0A2540"/>
                </a:solidFill>
                <a:latin typeface="Arial"/>
              </a:rPr>
              <a:t>• How It Addresses the Problem &amp; Key Uniqueness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Solves Welfare Drop-off: </a:t>
            </a:r>
            <a:r>
              <a:rPr sz="1250" b="0">
                <a:solidFill>
                  <a:srgbClr val="1E293B"/>
                </a:solidFill>
                <a:latin typeface="Arial"/>
              </a:rPr>
              <a:t>Translates complex government circulars into a 1-minute 5-parameter check with pre-filled printable government forms.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Eliminates Lost Grievances: </a:t>
            </a:r>
            <a:r>
              <a:rPr sz="1250" b="0">
                <a:solidFill>
                  <a:srgbClr val="1E293B"/>
                </a:solidFill>
                <a:latin typeface="Arial"/>
              </a:rPr>
              <a:t>Replaces missing paper notes with time-stamped digital registers and automated escalation to the Block Development Officer (BDO).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Zero-Failure Offline Resilience: </a:t>
            </a:r>
            <a:r>
              <a:rPr sz="1250" b="0">
                <a:solidFill>
                  <a:srgbClr val="1E293B"/>
                </a:solidFill>
                <a:latin typeface="Arial"/>
              </a:rPr>
              <a:t>Embedded client-side rule evaluation engine guarantees 100% uptime with zero latency even during intermittent rural connectivity.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Team GramSetu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sz="2600" b="1">
                <a:solidFill>
                  <a:srgbClr val="0A2540"/>
                </a:solidFill>
                <a:latin typeface="Arial"/>
              </a:rP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1520" y="1234440"/>
            <a:ext cx="10698480" cy="4892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450" b="1">
                <a:solidFill>
                  <a:srgbClr val="0A2540"/>
                </a:solidFill>
                <a:latin typeface="Arial"/>
              </a:rPr>
              <a:t>• Technologies Used &amp; Architecture Stack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Frontend Tier: </a:t>
            </a:r>
            <a:r>
              <a:rPr sz="1250" b="0">
                <a:solidFill>
                  <a:srgbClr val="1E293B"/>
                </a:solidFill>
                <a:latin typeface="Arial"/>
              </a:rPr>
              <a:t>React 18, TypeScript, Vite, Tailwind CSS, Lucide Icons (GIGW 3.0 government-standard responsive design with font zoom A-/A+).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Backend Services: </a:t>
            </a:r>
            <a:r>
              <a:rPr sz="1250" b="0">
                <a:solidFill>
                  <a:srgbClr val="1E293B"/>
                </a:solidFill>
                <a:latin typeface="Arial"/>
              </a:rPr>
              <a:t>Python 3.11, FastAPI (Asynchronous RESTful APIs), Pydantic v2 schemas, ReportLab (Official PDF seal generation).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Data Persistence Tier: </a:t>
            </a:r>
            <a:r>
              <a:rPr sz="1250" b="0">
                <a:solidFill>
                  <a:srgbClr val="1E293B"/>
                </a:solidFill>
                <a:latin typeface="Arial"/>
              </a:rPr>
              <a:t>PostgreSQL / SQLite (aiosqlite) with SQLAlchemy 2.0 Async ORM, seed migrations, JWT authentication &amp; Bcrypt hashing.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Voice &amp; NLU Layer: </a:t>
            </a:r>
            <a:r>
              <a:rPr sz="1250" b="0">
                <a:solidFill>
                  <a:srgbClr val="1E293B"/>
                </a:solidFill>
                <a:latin typeface="Arial"/>
              </a:rPr>
              <a:t>HTML5 Web Speech API (STT Voice Capture &amp; TTS Audio Playback) + Client-side AST rule parsing engine.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Cloud Deployment: </a:t>
            </a:r>
            <a:r>
              <a:rPr sz="1250" b="0">
                <a:solidFill>
                  <a:srgbClr val="1E293B"/>
                </a:solidFill>
                <a:latin typeface="Arial"/>
              </a:rPr>
              <a:t>Vercel Edge CDN (Static frontend) + Render.com (Continuous Python cloud web service).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50" b="1">
                <a:solidFill>
                  <a:srgbClr val="0A2540"/>
                </a:solidFill>
                <a:latin typeface="Arial"/>
              </a:rPr>
              <a:t>• Methodology &amp; End-to-End Implementation Process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Step 1 (Citizen Input Layer): </a:t>
            </a:r>
            <a:r>
              <a:rPr sz="1250" b="0">
                <a:solidFill>
                  <a:srgbClr val="1E293B"/>
                </a:solidFill>
                <a:latin typeface="Arial"/>
              </a:rPr>
              <a:t>Voice input captured in Marathi/Hindi/English or entered via high-contrast accessible forms on mobile/desktop.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Step 2 (Rule Evaluation Engine): </a:t>
            </a:r>
            <a:r>
              <a:rPr sz="1250" b="0">
                <a:solidFill>
                  <a:srgbClr val="1E293B"/>
                </a:solidFill>
                <a:latin typeface="Arial"/>
              </a:rPr>
              <a:t>Lightweight AST engine evaluates multi-condition logic trees (and, or, &gt;=, &lt;=, in) in &lt; 1ms with zero cloud latency.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Step 3 (Grievance Registration): </a:t>
            </a:r>
            <a:r>
              <a:rPr sz="1250" b="0">
                <a:solidFill>
                  <a:srgbClr val="1E293B"/>
                </a:solidFill>
                <a:latin typeface="Arial"/>
              </a:rPr>
              <a:t>Generates certified 12-char tracking ID, computes 7-day SLA target date, and routes ticket to Panchayat triage queue.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Step 4 (Public Transparency): </a:t>
            </a:r>
            <a:r>
              <a:rPr sz="1250" b="0">
                <a:solidFill>
                  <a:srgbClr val="1E293B"/>
                </a:solidFill>
                <a:latin typeface="Arial"/>
              </a:rPr>
              <a:t>Proactive public disclosure of Gram Sabha minutes (ठराव), 15th Finance Commission vouchers, and civil works cards (RTI Sec 4(1)(b)).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Step 5 (Automated SLA Daemon): </a:t>
            </a:r>
            <a:r>
              <a:rPr sz="1250" b="0">
                <a:solidFill>
                  <a:srgbClr val="1E293B"/>
                </a:solidFill>
                <a:latin typeface="Arial"/>
              </a:rPr>
              <a:t>Background monitor continuously evaluates grievance deadlines and auto-escalates overdue tickets to Taluka BDO.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50" b="1">
                <a:solidFill>
                  <a:srgbClr val="0A2540"/>
                </a:solidFill>
                <a:latin typeface="Arial"/>
              </a:rPr>
              <a:t>• Working Prototype Verification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Verified Live System: </a:t>
            </a:r>
            <a:r>
              <a:rPr sz="1250" b="0">
                <a:solidFill>
                  <a:srgbClr val="1E293B"/>
                </a:solidFill>
                <a:latin typeface="Arial"/>
              </a:rPr>
              <a:t>Tested with authentic pre-configured personas for Gram Sevak Rameshwar Patil (9822001122) and rural citizen test cases.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Team GramSetu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sz="2600" b="1">
                <a:solidFill>
                  <a:srgbClr val="0A2540"/>
                </a:solidFill>
                <a:latin typeface="Arial"/>
              </a:rPr>
              <a:t>FEASIBILITY AND VIABILITY ANALYSIS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1520" y="1234440"/>
            <a:ext cx="10698480" cy="4892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450" b="1">
                <a:solidFill>
                  <a:srgbClr val="0A2540"/>
                </a:solidFill>
                <a:latin typeface="Arial"/>
              </a:rPr>
              <a:t>• Feasibility &amp; Viability Analysis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Technical Feasibility: </a:t>
            </a:r>
            <a:r>
              <a:rPr sz="1250" b="0">
                <a:solidFill>
                  <a:srgbClr val="1E293B"/>
                </a:solidFill>
                <a:latin typeface="Arial"/>
              </a:rPr>
              <a:t>100% browser-standard compliant; requires no native app downloads; ultra-compact bundle (385KB gzip) optimized for 2G/3G rural networks.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Operational Viability: </a:t>
            </a:r>
            <a:r>
              <a:rPr sz="1250" b="0">
                <a:solidFill>
                  <a:srgbClr val="1E293B"/>
                </a:solidFill>
                <a:latin typeface="Arial"/>
              </a:rPr>
              <a:t>Directly integrates into existing Panchayati Raj workflow (Gram Sevak, Sarpanch, Waterman); requires zero specialized hardware in GP offices.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Economic Viability: </a:t>
            </a:r>
            <a:r>
              <a:rPr sz="1250" b="0">
                <a:solidFill>
                  <a:srgbClr val="1E293B"/>
                </a:solidFill>
                <a:latin typeface="Arial"/>
              </a:rPr>
              <a:t>Built on open-source technologies; cloud hosting costs &lt; ₹50/month per Gram Panchayat, making it sustainable for municipal-wide scale.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50" b="1">
                <a:solidFill>
                  <a:srgbClr val="0A2540"/>
                </a:solidFill>
                <a:latin typeface="Arial"/>
              </a:rPr>
              <a:t>• Potential Challenges and Identified Risks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1. Digital &amp; Language Literacy: </a:t>
            </a:r>
            <a:r>
              <a:rPr sz="1250" b="0">
                <a:solidFill>
                  <a:srgbClr val="1E293B"/>
                </a:solidFill>
                <a:latin typeface="Arial"/>
              </a:rPr>
              <a:t>Rural citizens, especially elderly and women, may struggle with textual interfaces and smartphone navigation.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2. Patchy Rural Internet Connectivity: </a:t>
            </a:r>
            <a:r>
              <a:rPr sz="1250" b="0">
                <a:solidFill>
                  <a:srgbClr val="1E293B"/>
                </a:solidFill>
                <a:latin typeface="Arial"/>
              </a:rPr>
              <a:t>Intermittent broadband and frequent electricity cuts in interior village wadis.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3. Bureaucratic Resistance &amp; Inaction: </a:t>
            </a:r>
            <a:r>
              <a:rPr sz="1250" b="0">
                <a:solidFill>
                  <a:srgbClr val="1E293B"/>
                </a:solidFill>
                <a:latin typeface="Arial"/>
              </a:rPr>
              <a:t>Risk of local officials neglecting digital complaints or delaying physical field inspections.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4. Privacy &amp; Data Integrity: </a:t>
            </a:r>
            <a:r>
              <a:rPr sz="1250" b="0">
                <a:solidFill>
                  <a:srgbClr val="1E293B"/>
                </a:solidFill>
                <a:latin typeface="Arial"/>
              </a:rPr>
              <a:t>Handling citizen records (Aadhaar, income certificates, caste documents) securely.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50" b="1">
                <a:solidFill>
                  <a:srgbClr val="0A2540"/>
                </a:solidFill>
                <a:latin typeface="Arial"/>
              </a:rPr>
              <a:t>• Engineered Mitigation Strategies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Voice-First Accessibility: </a:t>
            </a:r>
            <a:r>
              <a:rPr sz="1250" b="0">
                <a:solidFill>
                  <a:srgbClr val="1E293B"/>
                </a:solidFill>
                <a:latin typeface="Arial"/>
              </a:rPr>
              <a:t>Native Marathi/Hindi speech recognition and spoken audio prompts eliminate literacy barriers completely.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Zero-Failure Offline Engine: </a:t>
            </a:r>
            <a:r>
              <a:rPr sz="1250" b="0">
                <a:solidFill>
                  <a:srgbClr val="1E293B"/>
                </a:solidFill>
                <a:latin typeface="Arial"/>
              </a:rPr>
              <a:t>Browser-side localStorage persistence and rule evaluation guarantee full functionality without active cloud internet.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Mandatory 7-Day SLA Escalation: </a:t>
            </a:r>
            <a:r>
              <a:rPr sz="1250" b="0">
                <a:solidFill>
                  <a:srgbClr val="1E293B"/>
                </a:solidFill>
                <a:latin typeface="Arial"/>
              </a:rPr>
              <a:t>Automated hierarchical escalation to Block Development Officer &amp; District Collectorate ensures official accountability.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Zero-Trust Security: </a:t>
            </a:r>
            <a:r>
              <a:rPr sz="1250" b="0">
                <a:solidFill>
                  <a:srgbClr val="1E293B"/>
                </a:solidFill>
                <a:latin typeface="Arial"/>
              </a:rPr>
              <a:t>JWT tokenization, role-based access control (Citizen vs Official), input sanitization, and synthetic testing data protection.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Team GramSetu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sz="2600" b="1">
                <a:solidFill>
                  <a:srgbClr val="0A2540"/>
                </a:solidFill>
                <a:latin typeface="Arial"/>
              </a:rPr>
              <a:t>PROJECT IMPACT AND SOCIO-ECONOMIC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1520" y="1234440"/>
            <a:ext cx="10698480" cy="4892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450" b="1">
                <a:solidFill>
                  <a:srgbClr val="0A2540"/>
                </a:solidFill>
                <a:latin typeface="Arial"/>
              </a:rPr>
              <a:t>• Potential Impact on Target Audience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Rural Citizens: </a:t>
            </a:r>
            <a:r>
              <a:rPr sz="1250" b="0">
                <a:solidFill>
                  <a:srgbClr val="1E293B"/>
                </a:solidFill>
                <a:latin typeface="Arial"/>
              </a:rPr>
              <a:t>Eliminates exploitative middlemen; unlocks ₹1,20,000+ per eligible household in housing, pension, and education subsidies with transparent tracking.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Panchayat Administration: </a:t>
            </a:r>
            <a:r>
              <a:rPr sz="1250" b="0">
                <a:solidFill>
                  <a:srgbClr val="1E293B"/>
                </a:solidFill>
                <a:latin typeface="Arial"/>
              </a:rPr>
              <a:t>Cuts paper register backlog by 80%; provides visual MIS heatmaps for data-driven fund deployment in monthly Gram Sabhas.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Block &amp; District Authorities: </a:t>
            </a:r>
            <a:r>
              <a:rPr sz="1250" b="0">
                <a:solidFill>
                  <a:srgbClr val="1E293B"/>
                </a:solidFill>
                <a:latin typeface="Arial"/>
              </a:rPr>
              <a:t>Real-time visibility into systemic civic distress (drinking water, power cuts) across hundreds of villages with automated SLA compliance.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50" b="1">
                <a:solidFill>
                  <a:srgbClr val="0A2540"/>
                </a:solidFill>
                <a:latin typeface="Arial"/>
              </a:rPr>
              <a:t>• Multi-Dimensional Benefits to Society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Social Empowerment: </a:t>
            </a:r>
            <a:r>
              <a:rPr sz="1250" b="0">
                <a:solidFill>
                  <a:srgbClr val="1E293B"/>
                </a:solidFill>
                <a:latin typeface="Arial"/>
              </a:rPr>
              <a:t>Empowers marginalized rural groups (widows, smallholder farmers, SC/ST, senior citizens) to claim their constitutional rights with dignity.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Economic Savings: </a:t>
            </a:r>
            <a:r>
              <a:rPr sz="1250" b="0">
                <a:solidFill>
                  <a:srgbClr val="1E293B"/>
                </a:solidFill>
                <a:latin typeface="Arial"/>
              </a:rPr>
              <a:t>Saves rural families ₹200–₹500 per grievance in bus fares and lost daily agricultural wages by eliminating trips to Tehsil offices.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Democratic Transparency: </a:t>
            </a:r>
            <a:r>
              <a:rPr sz="1250" b="0">
                <a:solidFill>
                  <a:srgbClr val="1E293B"/>
                </a:solidFill>
                <a:latin typeface="Arial"/>
              </a:rPr>
              <a:t>Proactive public disclosure of Gram Sabha resolutions (ठराव) and 15th Finance Commission fund vouchers under RTI Act Section 4(1)(b).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Environmental Sustainability: </a:t>
            </a:r>
            <a:r>
              <a:rPr sz="1250" b="0">
                <a:solidFill>
                  <a:srgbClr val="1E293B"/>
                </a:solidFill>
                <a:latin typeface="Arial"/>
              </a:rPr>
              <a:t>100% paperless governance workflow saves reams of administrative stationery and physical file storage annually.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50" b="1">
                <a:solidFill>
                  <a:srgbClr val="0A2540"/>
                </a:solidFill>
                <a:latin typeface="Arial"/>
              </a:rPr>
              <a:t>• Scalability &amp; Nationwide Reach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Proven Prototype: </a:t>
            </a:r>
            <a:r>
              <a:rPr sz="1250" b="0">
                <a:solidFill>
                  <a:srgbClr val="1E293B"/>
                </a:solidFill>
                <a:latin typeface="Arial"/>
              </a:rPr>
              <a:t>Tested for Gram Panchayat Kopargaon; architected for rapid rollout across all 28,000+ GPs in Maharashtra and 2.5 Lakh Panchayats pan-India.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Team GramSetu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sz="2600" b="1">
                <a:solidFill>
                  <a:srgbClr val="0A2540"/>
                </a:solidFill>
                <a:latin typeface="Arial"/>
              </a:rPr>
              <a:t>RESEARCH, REFERENCES &amp; PROJECT REPOSITORY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1520" y="1234440"/>
            <a:ext cx="10698480" cy="4892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450" b="1">
                <a:solidFill>
                  <a:srgbClr val="0A2540"/>
                </a:solidFill>
                <a:latin typeface="Arial"/>
              </a:rPr>
              <a:t>• Government Frameworks &amp; Regulatory Standards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Guidelines for Indian Government Websites (GIGW 3.0): </a:t>
            </a:r>
            <a:r>
              <a:rPr sz="1250" b="0">
                <a:solidFill>
                  <a:srgbClr val="1E293B"/>
                </a:solidFill>
                <a:latin typeface="Arial"/>
              </a:rPr>
              <a:t>Ministry of Electronics &amp; IT (MeitY) &amp; National Informatics Centre (NIC) accessibility standards.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Right to Information (RTI) Act 2005: </a:t>
            </a:r>
            <a:r>
              <a:rPr sz="1250" b="0">
                <a:solidFill>
                  <a:srgbClr val="1E293B"/>
                </a:solidFill>
                <a:latin typeface="Arial"/>
              </a:rPr>
              <a:t>Section 4(1)(b) proactive public disclosure compliance for local self-government institutions.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CPGRAMS &amp; Aaple Sarkar Citizen Charter: </a:t>
            </a:r>
            <a:r>
              <a:rPr sz="1250" b="0">
                <a:solidFill>
                  <a:srgbClr val="1E293B"/>
                </a:solidFill>
                <a:latin typeface="Arial"/>
              </a:rPr>
              <a:t>Department of Administrative Reforms and Public Grievances (DARPG) grievance redressal timelines.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e-GramSwaraj &amp; Mission Antyodaya: </a:t>
            </a:r>
            <a:r>
              <a:rPr sz="1250" b="0">
                <a:solidFill>
                  <a:srgbClr val="1E293B"/>
                </a:solidFill>
                <a:latin typeface="Arial"/>
              </a:rPr>
              <a:t>Ministry of Panchayati Raj, Government of India (https://egramswaraj.gov.in).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50" b="1">
                <a:solidFill>
                  <a:srgbClr val="0A2540"/>
                </a:solidFill>
                <a:latin typeface="Arial"/>
              </a:rPr>
              <a:t>• Official Scheme Circulars &amp; Verification Sources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Pradhan Mantri Awas Yojana - Gramin (PMAY-G): </a:t>
            </a:r>
            <a:r>
              <a:rPr sz="1250" b="0">
                <a:solidFill>
                  <a:srgbClr val="1E293B"/>
                </a:solidFill>
                <a:latin typeface="Arial"/>
              </a:rPr>
              <a:t>Ministry of Rural Development operational guidelines (https://pmayg.nic.in).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National Social Assistance Programme (NSAP): </a:t>
            </a:r>
            <a:r>
              <a:rPr sz="1250" b="0">
                <a:solidFill>
                  <a:srgbClr val="1E293B"/>
                </a:solidFill>
                <a:latin typeface="Arial"/>
              </a:rPr>
              <a:t>IGNOAPS (Old Age) &amp; IGNWPS (Widow) pension guidelines (https://nsap.nic.in).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Mahatma Gandhi NREGA: </a:t>
            </a:r>
            <a:r>
              <a:rPr sz="1250" b="0">
                <a:solidFill>
                  <a:srgbClr val="1E293B"/>
                </a:solidFill>
                <a:latin typeface="Arial"/>
              </a:rPr>
              <a:t>Ministry of Rural Development wage employment framework (https://nrega.nic.in).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Direct Benefit Transfer (DBT) Bharat Mission: </a:t>
            </a:r>
            <a:r>
              <a:rPr sz="1250" b="0">
                <a:solidFill>
                  <a:srgbClr val="1E293B"/>
                </a:solidFill>
                <a:latin typeface="Arial"/>
              </a:rPr>
              <a:t>Cabinet Secretariat government subsidy disbursement standards (https://dbtbharat.gov.in).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50" b="1">
                <a:solidFill>
                  <a:srgbClr val="0A2540"/>
                </a:solidFill>
                <a:latin typeface="Arial"/>
              </a:rPr>
              <a:t>• Academic Research &amp; Live Code Repository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NITI Aayog &amp; World Bank (2023): </a:t>
            </a:r>
            <a:r>
              <a:rPr sz="1250" b="0">
                <a:solidFill>
                  <a:srgbClr val="1E293B"/>
                </a:solidFill>
                <a:latin typeface="Arial"/>
              </a:rPr>
              <a:t>"Empowering Panchayati Raj Institutions through Digital Transparency &amp; Citizen Feedback Loops".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Live Citizen Web Portal: </a:t>
            </a:r>
            <a:r>
              <a:rPr sz="1250" b="0">
                <a:solidFill>
                  <a:srgbClr val="1E293B"/>
                </a:solidFill>
                <a:latin typeface="Arial"/>
              </a:rPr>
              <a:t>https://gramsetu-rural-governance-platform.vercel.app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Live Backend Cloud API: </a:t>
            </a:r>
            <a:r>
              <a:rPr sz="1250" b="0">
                <a:solidFill>
                  <a:srgbClr val="1E293B"/>
                </a:solidFill>
                <a:latin typeface="Arial"/>
              </a:rPr>
              <a:t>https://gramsetu-rural-governance-platform.onrender.com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GitHub Source Code Repository: </a:t>
            </a:r>
            <a:r>
              <a:rPr sz="1250" b="0">
                <a:solidFill>
                  <a:srgbClr val="1E293B"/>
                </a:solidFill>
                <a:latin typeface="Arial"/>
              </a:rPr>
              <a:t>https://github.com/OMSAISH/GramSetu-Rural-Governance-Platform.git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Team GramSetu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000" b="1">
                <a:solidFill>
                  <a:srgbClr val="D97706"/>
                </a:solidFill>
                <a:latin typeface="Arial"/>
              </a:rPr>
              <a:t>IMPORTANT INSTRUCTIONS (SIH SUBMISSION CHECKLIST)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